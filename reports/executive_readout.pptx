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PROJECT FORESIGHT</a:t>
            </a:r>
          </a:p>
          <a:p>
            <a:pPr>
              <a:defRPr sz="2400">
                <a:solidFill>
                  <a:srgbClr val="D2E1F5"/>
                </a:solidFill>
              </a:defRPr>
            </a:pPr>
            <a:r>
              <a:t>Demand &amp; Inventory Intelligence</a:t>
            </a:r>
          </a:p>
          <a:p>
            <a:pPr>
              <a:defRPr sz="1800">
                <a:solidFill>
                  <a:srgbClr val="D2E1F5"/>
                </a:solidFill>
              </a:defRPr>
            </a:pPr>
            <a:r>
              <a:t>Executive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92A40"/>
                </a:solidFill>
              </a:defRPr>
            </a:pPr>
            <a:r>
              <a:t>SKU-level demand forecasting</a:t>
            </a:r>
          </a:p>
          <a:p>
            <a:pPr>
              <a:defRPr sz="1800">
                <a:solidFill>
                  <a:srgbClr val="192A40"/>
                </a:solidFill>
              </a:defRPr>
            </a:pPr>
            <a:r>
              <a:t>Lead-time risk scoring and four-quadrant decisioning</a:t>
            </a:r>
          </a:p>
          <a:p>
            <a:pPr>
              <a:defRPr sz="1800">
                <a:solidFill>
                  <a:srgbClr val="192A40"/>
                </a:solidFill>
              </a:defRPr>
            </a:pPr>
            <a:r>
              <a:t>Streamlit operations dashboard and scoring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40"/>
                </a:solidFill>
              </a:defRPr>
            </a:pPr>
            <a:r>
              <a:t>Business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Turn sales + inventory extracts into decisions the operations team can act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2A40"/>
                </a:solidFill>
              </a:defRPr>
            </a:pPr>
            <a:r>
              <a:t>NorthBay needs weekly SKU demand forecasts and early-warning signals for stockouts and excess inventory.</a:t>
            </a:r>
          </a:p>
          <a:p>
            <a:pPr>
              <a:defRPr sz="1800">
                <a:solidFill>
                  <a:srgbClr val="192A40"/>
                </a:solidFill>
              </a:defRPr>
            </a:pPr>
            <a:r>
              <a:t>The system converts predictions into REORDER, MARKDOWN/CLEAR, WATCH or HEALTHY decisions.</a:t>
            </a:r>
          </a:p>
          <a:p>
            <a:pPr>
              <a:defRPr sz="1800">
                <a:solidFill>
                  <a:srgbClr val="192A40"/>
                </a:solidFill>
              </a:defRPr>
            </a:pPr>
            <a:r>
              <a:t>Rupee exposure is attached to the decision so teams can prioritize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389120" cy="960120"/>
          </a:xfrm>
          <a:prstGeom prst="roundRect">
            <a:avLst/>
          </a:prstGeom>
          <a:solidFill>
            <a:srgbClr val="F2F5F8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78308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SKUs</a:t>
            </a:r>
          </a:p>
          <a:p>
            <a:pPr>
              <a:defRPr sz="2400" b="1">
                <a:solidFill>
                  <a:srgbClr val="2F66BE"/>
                </a:solidFill>
              </a:defRPr>
            </a:pPr>
            <a:r>
              <a:t>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71800"/>
            <a:ext cx="4389120" cy="96012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310896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Forecast horizon</a:t>
            </a:r>
          </a:p>
          <a:p>
            <a:pPr>
              <a:defRPr sz="2400" b="1">
                <a:solidFill>
                  <a:srgbClr val="2E7D32"/>
                </a:solidFill>
              </a:defRPr>
            </a:pPr>
            <a:r>
              <a:t>13 weeks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97680"/>
            <a:ext cx="4389120" cy="960120"/>
          </a:xfrm>
          <a:prstGeom prst="roundRect">
            <a:avLst/>
          </a:prstGeom>
          <a:solidFill>
            <a:srgbClr val="F2F5F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434840"/>
            <a:ext cx="3931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Weekly records</a:t>
            </a:r>
          </a:p>
          <a:p>
            <a:pPr>
              <a:defRPr sz="2400" b="1">
                <a:solidFill>
                  <a:srgbClr val="E67E22"/>
                </a:solidFill>
              </a:defRPr>
            </a:pPr>
            <a:r>
              <a:t>650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Project FORESIGHT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40"/>
                </a:solidFill>
              </a:defRPr>
            </a:pPr>
            <a:r>
              <a:t>Data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Reproducible raw-to-weekly pipeline with explicit quality checks.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194560" cy="594360"/>
          </a:xfrm>
          <a:prstGeom prst="roundRect">
            <a:avLst/>
          </a:prstGeom>
          <a:solidFill>
            <a:srgbClr val="2F66BE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898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Raw extracts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5331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2A40"/>
                </a:solidFill>
              </a:defRPr>
            </a:pPr>
            <a:r>
              <a:t>Sales • SKU master • Calendar • Inventory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2194560" cy="594360"/>
          </a:xfrm>
          <a:prstGeom prst="roundRect">
            <a:avLst/>
          </a:prstGeom>
          <a:solidFill>
            <a:srgbClr val="2F66BE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6771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2A40"/>
                </a:solidFill>
              </a:defRPr>
            </a:pPr>
            <a:r>
              <a:t>Missing values • duplicates • formula checks • date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2194560" cy="594360"/>
          </a:xfrm>
          <a:prstGeom prst="roundRect">
            <a:avLst/>
          </a:prstGeom>
          <a:solidFill>
            <a:srgbClr val="2F66BE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186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Weekly grain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8211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2A40"/>
                </a:solidFill>
              </a:defRPr>
            </a:pPr>
            <a:r>
              <a:t>SKU-week aggregation + promotion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2194560" cy="594360"/>
          </a:xfrm>
          <a:prstGeom prst="roundRect">
            <a:avLst/>
          </a:prstGeom>
          <a:solidFill>
            <a:srgbClr val="2F66BE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330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Inventory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09651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2A40"/>
                </a:solidFill>
              </a:defRPr>
            </a:pPr>
            <a:r>
              <a:t>Latest known snapshot on/before week start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2194560" cy="594360"/>
          </a:xfrm>
          <a:prstGeom prst="roundRect">
            <a:avLst/>
          </a:prstGeom>
          <a:solidFill>
            <a:srgbClr val="2F66BE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474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010912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92A40"/>
                </a:solidFill>
              </a:defRPr>
            </a:pPr>
            <a:r>
              <a:t>analysis_ready_weekly.csv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Project FORESIGHT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40"/>
                </a:solidFill>
              </a:defRPr>
            </a:pPr>
            <a:r>
              <a:t>EDA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Patterns surfaced before modelling.</a:t>
            </a:r>
          </a:p>
        </p:txBody>
      </p:sp>
      <p:pic>
        <p:nvPicPr>
          <p:cNvPr id="4" name="Picture 3" descr="top10_un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86400" cy="3429000"/>
          </a:xfrm>
          <a:prstGeom prst="rect">
            <a:avLst/>
          </a:prstGeom>
        </p:spPr>
      </p:pic>
      <p:pic>
        <p:nvPicPr>
          <p:cNvPr id="5" name="Picture 4" descr="category_un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0352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2A40"/>
                </a:solidFill>
              </a:defRPr>
            </a:pPr>
            <a:r>
              <a:t>SKU012 is the top unit seller; SKU026 is the top revenue SKU. Home Decor leads category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Project FORESIGHT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40"/>
                </a:solidFill>
              </a:defRPr>
            </a:pPr>
            <a:r>
              <a:t>Forecasting: baseline → model → backtest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Four rolling-origin 13-week folds; WAPE is the primary accuracy metric.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840480" cy="411480"/>
          </a:xfrm>
          <a:prstGeom prst="rect">
            <a:avLst/>
          </a:prstGeom>
          <a:solidFill>
            <a:srgbClr val="192A40"/>
          </a:solidFill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2011680" cy="411480"/>
          </a:xfrm>
          <a:prstGeom prst="rect">
            <a:avLst/>
          </a:prstGeom>
          <a:solidFill>
            <a:srgbClr val="192A40"/>
          </a:solidFill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Single holdout WAPE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2377440" cy="411480"/>
          </a:xfrm>
          <a:prstGeom prst="rect">
            <a:avLst/>
          </a:prstGeom>
          <a:solidFill>
            <a:srgbClr val="192A40"/>
          </a:solidFill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Rolling avg WAPE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840480" cy="502920"/>
          </a:xfrm>
          <a:prstGeom prst="rect">
            <a:avLst/>
          </a:prstGeom>
          <a:solidFill>
            <a:srgbClr val="F2F5F8"/>
          </a:solidFill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40"/>
                </a:solidFill>
              </a:defRPr>
            </a:pPr>
            <a:r>
              <a:t>Seasonal Naive (Baseline)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011680" cy="502920"/>
          </a:xfrm>
          <a:prstGeom prst="rect">
            <a:avLst/>
          </a:prstGeom>
          <a:solidFill>
            <a:srgbClr val="F2F5F8"/>
          </a:solidFill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40"/>
                </a:solidFill>
              </a:defRPr>
            </a:pPr>
            <a:r>
              <a:t>11.62%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783080"/>
            <a:ext cx="2377440" cy="502920"/>
          </a:xfrm>
          <a:prstGeom prst="rect">
            <a:avLst/>
          </a:prstGeom>
          <a:solidFill>
            <a:srgbClr val="F2F5F8"/>
          </a:solidFill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40"/>
                </a:solidFill>
              </a:defRPr>
            </a:pPr>
            <a:r>
              <a:t>10.84%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840480" cy="5029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40"/>
                </a:solidFill>
              </a:defRPr>
            </a:pPr>
            <a:r>
              <a:t>Holt Exponential Smoothing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011680" cy="5029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40"/>
                </a:solidFill>
              </a:defRPr>
            </a:pPr>
            <a:r>
              <a:t>10.56%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2377440" cy="5029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40"/>
                </a:solidFill>
              </a:defRPr>
            </a:pPr>
            <a:r>
              <a:t>15.19%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840480" cy="502920"/>
          </a:xfrm>
          <a:prstGeom prst="rect">
            <a:avLst/>
          </a:prstGeom>
          <a:solidFill>
            <a:srgbClr val="F2F5F8"/>
          </a:solidFill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40"/>
                </a:solidFill>
              </a:defRPr>
            </a:pPr>
            <a:r>
              <a:t>HistGradientBoostingRegressor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2011680" cy="502920"/>
          </a:xfrm>
          <a:prstGeom prst="rect">
            <a:avLst/>
          </a:prstGeom>
          <a:solidFill>
            <a:srgbClr val="F2F5F8"/>
          </a:solidFill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40"/>
                </a:solidFill>
              </a:defRPr>
            </a:pPr>
            <a:r>
              <a:t>8.96%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71800"/>
            <a:ext cx="2377440" cy="502920"/>
          </a:xfrm>
          <a:prstGeom prst="rect">
            <a:avLst/>
          </a:prstGeom>
          <a:solidFill>
            <a:srgbClr val="F2F5F8"/>
          </a:solidFill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2A40"/>
                </a:solidFill>
              </a:defRPr>
            </a:pPr>
            <a:r>
              <a:t>10.24%</a:t>
            </a:r>
          </a:p>
        </p:txBody>
      </p:sp>
      <p:pic>
        <p:nvPicPr>
          <p:cNvPr id="16" name="Picture 15" descr="model_wap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80160"/>
            <a:ext cx="4480560" cy="224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41148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92A40"/>
                </a:solidFill>
              </a:defRPr>
            </a:pPr>
            <a:r>
              <a:t>Final selected model: HistGradientBoostingRegressor.</a:t>
            </a:r>
          </a:p>
          <a:p>
            <a:pPr>
              <a:defRPr sz="1500">
                <a:solidFill>
                  <a:srgbClr val="192A40"/>
                </a:solidFill>
              </a:defRPr>
            </a:pPr>
            <a:r>
              <a:t>Rolling-origin WAPE improves from 10.84% (Seasonal Naive) to 10.24% — about 5.6% relative improvement.</a:t>
            </a:r>
          </a:p>
          <a:p>
            <a:pPr>
              <a:defRPr sz="1800">
                <a:solidFill>
                  <a:srgbClr val="192A40"/>
                </a:solidFill>
              </a:defRPr>
            </a:pPr>
            <a:r>
              <a:t>Holt performed better on the single holdout but worse on the four-fold rolling backtest.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Project FORESIGHT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40"/>
                </a:solidFill>
              </a:defRPr>
            </a:pPr>
            <a:r>
              <a:t>Risk scoring &amp; decisioning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Lead-time demand + progressive inventory position → transparent actions.</a:t>
            </a:r>
          </a:p>
        </p:txBody>
      </p:sp>
      <p:pic>
        <p:nvPicPr>
          <p:cNvPr id="4" name="Picture 3" descr="decision_quad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03520" cy="2651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417320"/>
            <a:ext cx="4297680" cy="749808"/>
          </a:xfrm>
          <a:prstGeom prst="roundRect">
            <a:avLst/>
          </a:prstGeom>
          <a:solidFill>
            <a:srgbClr val="F2F5F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527048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High stockout risk</a:t>
            </a:r>
          </a:p>
          <a:p>
            <a:pPr>
              <a:defRPr sz="2100" b="1">
                <a:solidFill>
                  <a:srgbClr val="C0392B"/>
                </a:solidFill>
              </a:defRPr>
            </a:pPr>
            <a:r>
              <a:t>390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23160"/>
            <a:ext cx="4297680" cy="749808"/>
          </a:xfrm>
          <a:prstGeom prst="roundRect">
            <a:avLst/>
          </a:prstGeom>
          <a:solidFill>
            <a:srgbClr val="F2F5F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532888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High overstock risk</a:t>
            </a:r>
          </a:p>
          <a:p>
            <a:pPr>
              <a:defRPr sz="2100" b="1">
                <a:solidFill>
                  <a:srgbClr val="E67E22"/>
                </a:solidFill>
              </a:defRPr>
            </a:pPr>
            <a:r>
              <a:t>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29000"/>
            <a:ext cx="4297680" cy="749808"/>
          </a:xfrm>
          <a:prstGeom prst="roundRect">
            <a:avLst/>
          </a:prstGeom>
          <a:solidFill>
            <a:srgbClr val="F2F5F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538728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REORDER</a:t>
            </a:r>
          </a:p>
          <a:p>
            <a:pPr>
              <a:defRPr sz="2100" b="1">
                <a:solidFill>
                  <a:srgbClr val="C0392B"/>
                </a:solidFill>
              </a:defRPr>
            </a:pPr>
            <a:r>
              <a:t>390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434840"/>
            <a:ext cx="4297680" cy="749808"/>
          </a:xfrm>
          <a:prstGeom prst="roundRect">
            <a:avLst/>
          </a:prstGeom>
          <a:solidFill>
            <a:srgbClr val="F2F5F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544568"/>
            <a:ext cx="3931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MARKDOWN</a:t>
            </a:r>
          </a:p>
          <a:p>
            <a:pPr>
              <a:defRPr sz="2100" b="1">
                <a:solidFill>
                  <a:srgbClr val="E67E22"/>
                </a:solidFill>
              </a:defRPr>
            </a:pPr>
            <a: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2A40"/>
                </a:solidFill>
              </a:defRPr>
            </a:pPr>
            <a:r>
              <a:t>Decisioning uses the brief’s four quadrants: REORDER NOW, MARKDOWN/CLEAR, WATCH/VOLATILE, HEALTHY.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Project FORESIGHT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40"/>
                </a:solidFill>
              </a:defRPr>
            </a:pPr>
            <a:r>
              <a:t>Financial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Model-based exposure estimates to help prioritize inventory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Potential lost-sales value</a:t>
            </a:r>
          </a:p>
          <a:p>
            <a:pPr>
              <a:defRPr sz="2600" b="1">
                <a:solidFill>
                  <a:srgbClr val="C0392B"/>
                </a:solidFill>
              </a:defRPr>
            </a:pPr>
            <a:r>
              <a:t>₹312.9M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82880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59" y="20574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Potential overstock inventory value</a:t>
            </a:r>
          </a:p>
          <a:p>
            <a:pPr>
              <a:defRPr sz="2600" b="1">
                <a:solidFill>
                  <a:srgbClr val="E67E22"/>
                </a:solidFill>
              </a:defRPr>
            </a:pPr>
            <a:r>
              <a:t>₹38.1M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2880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2F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0574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Estimated reorder value</a:t>
            </a:r>
          </a:p>
          <a:p>
            <a:pPr>
              <a:defRPr sz="2600" b="1">
                <a:solidFill>
                  <a:srgbClr val="2F66BE"/>
                </a:solidFill>
              </a:defRPr>
            </a:pPr>
            <a:r>
              <a:t>₹981.5M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92A40"/>
                </a:solidFill>
              </a:defRPr>
            </a:pPr>
            <a:r>
              <a:t>These are estimated planning exposures, not realized losses.</a:t>
            </a:r>
          </a:p>
          <a:p>
            <a:pPr>
              <a:defRPr sz="1500">
                <a:solidFill>
                  <a:srgbClr val="192A40"/>
                </a:solidFill>
              </a:defRPr>
            </a:pPr>
            <a:r>
              <a:t>Use the dashboard to focus planners on the highest-value reorder and clearance candidates.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Project FORESIGHT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A40"/>
                </a:solidFill>
              </a:defRPr>
            </a:pPr>
            <a:r>
              <a:t>Productization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From notebook output to a reusable decision-support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92A40"/>
                </a:solidFill>
              </a:defRPr>
            </a:pPr>
            <a:r>
              <a:t>Streamlit dashboard: filters, forecast view, decision grid, prioritized actions and CSV export.</a:t>
            </a:r>
          </a:p>
          <a:p>
            <a:pPr>
              <a:defRPr sz="1800">
                <a:solidFill>
                  <a:srgbClr val="192A40"/>
                </a:solidFill>
              </a:defRPr>
            </a:pPr>
            <a:r>
              <a:t>Optional FastAPI scoring endpoint: /health and /score/{sku}.</a:t>
            </a:r>
          </a:p>
          <a:p>
            <a:pPr>
              <a:defRPr sz="1800">
                <a:solidFill>
                  <a:srgbClr val="192A40"/>
                </a:solidFill>
              </a:defRPr>
            </a:pPr>
            <a:r>
              <a:t>README, notebooks, scripts, reports and requirements are packaged for reproducibility.</a:t>
            </a:r>
          </a:p>
          <a:p>
            <a:pPr>
              <a:defRPr sz="1500">
                <a:solidFill>
                  <a:srgbClr val="192A40"/>
                </a:solidFill>
              </a:defRPr>
            </a:pPr>
            <a:r>
              <a:t>Deployment and smoke-testing remain environment/account steps outside the local artifact build.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2468880" cy="50292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37667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D1 Data •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5303520"/>
            <a:ext cx="2468880" cy="50292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537667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D2 EDA •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5303520"/>
            <a:ext cx="2468880" cy="50292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537667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D3 Forecast •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5303520"/>
            <a:ext cx="2468880" cy="50292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8007" y="537667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D4 Risk • 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989320"/>
            <a:ext cx="2468880" cy="50292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606247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D5 Dashboard • READY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5989320"/>
            <a:ext cx="2468880" cy="502920"/>
          </a:xfrm>
          <a:prstGeom prst="roundRect">
            <a:avLst/>
          </a:prstGeom>
          <a:solidFill>
            <a:srgbClr val="F2F5F8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606247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D6 Deploy • NEXT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5989320"/>
            <a:ext cx="2468880" cy="502920"/>
          </a:xfrm>
          <a:prstGeom prst="roundRect">
            <a:avLst/>
          </a:prstGeom>
          <a:solidFill>
            <a:srgbClr val="F2F5F8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6062472"/>
            <a:ext cx="2240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D7 Readout •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46E"/>
                </a:solidFill>
              </a:defRPr>
            </a:pPr>
            <a:r>
              <a:t>Project FORESIGHT  •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